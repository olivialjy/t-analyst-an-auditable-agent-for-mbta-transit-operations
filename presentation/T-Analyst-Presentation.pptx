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66760" y="502920"/>
            <a:ext cx="1737360" cy="82296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722376"/>
            <a:ext cx="2468880" cy="82296"/>
          </a:xfrm>
          <a:prstGeom prst="round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66760" y="941832"/>
            <a:ext cx="3200400" cy="82296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66760" y="1161288"/>
            <a:ext cx="3749039" cy="82296"/>
          </a:xfrm>
          <a:prstGeom prst="roundRect">
            <a:avLst/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7D7C7"/>
                </a:solidFill>
                <a:latin typeface="Arial"/>
              </a:rPr>
              <a:t>AGENTIC AI · TECHNICAL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76656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T-Analyst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7498079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An Auditable Agent for
MBTA Transit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676656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1E2E8"/>
                </a:solidFill>
                <a:latin typeface="Arial"/>
              </a:rPr>
              <a:t>Ask transit operations questions in plain language—and inspect the evidence behind every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800600"/>
            <a:ext cx="1600200" cy="438912"/>
          </a:xfrm>
          <a:prstGeom prst="roundRect">
            <a:avLst/>
          </a:prstGeom>
          <a:solidFill>
            <a:srgbClr val="071B28"/>
          </a:solidFill>
          <a:ln w="12700">
            <a:solidFill>
              <a:srgbClr val="425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19472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LIVE MBTA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4800600"/>
            <a:ext cx="2011680" cy="438912"/>
          </a:xfrm>
          <a:prstGeom prst="roundRect">
            <a:avLst/>
          </a:prstGeom>
          <a:solidFill>
            <a:srgbClr val="071B28"/>
          </a:solidFill>
          <a:ln w="12700">
            <a:solidFill>
              <a:srgbClr val="425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4919472"/>
            <a:ext cx="20116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REALIZED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4800600"/>
            <a:ext cx="1828800" cy="438912"/>
          </a:xfrm>
          <a:prstGeom prst="roundRect">
            <a:avLst/>
          </a:prstGeom>
          <a:solidFill>
            <a:srgbClr val="071B28"/>
          </a:solidFill>
          <a:ln w="12700">
            <a:solidFill>
              <a:srgbClr val="425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919472"/>
            <a:ext cx="1828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EVIDENCE-FIRST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7220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0B9C3"/>
                </a:solidFill>
                <a:latin typeface="Arial"/>
              </a:rPr>
              <a:t>github.com/OliviaLJY/T-Analyst-An-Auditable-Agent-for-MBTA-Transit-Operations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A3A"/>
                </a:solidFill>
                <a:latin typeface="Arial"/>
              </a:rPr>
              <a:t>Public transit data is open. Useful answers are still hard.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C76"/>
                </a:solidFill>
                <a:latin typeface="Arial"/>
              </a:rPr>
              <a:t>The challenge is not access alone—it is interpretation and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886200" cy="361188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0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7D7C7"/>
                </a:solidFill>
                <a:latin typeface="Arial"/>
              </a:rPr>
              <a:t>A simple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246120" cy="1280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“Which line had the most uneven train spacing this week?”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31546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1E2E8"/>
                </a:solidFill>
                <a:latin typeface="Arial"/>
              </a:rPr>
              <a:t>Answering it requires much more than an API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947672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7A73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874519"/>
            <a:ext cx="2560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A3A"/>
                </a:solidFill>
                <a:latin typeface="Arial"/>
              </a:rPr>
              <a:t>Fragmented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258568"/>
            <a:ext cx="53492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C76"/>
                </a:solidFill>
                <a:latin typeface="Arial"/>
              </a:rPr>
              <a:t>Live feeds and completed performance data answer different questions.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32120" y="2907791"/>
            <a:ext cx="5623560" cy="0"/>
          </a:xfrm>
          <a:prstGeom prst="line">
            <a:avLst/>
          </a:prstGeom>
          <a:ln w="1905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83480" y="315468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7A73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081528"/>
            <a:ext cx="2560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A3A"/>
                </a:solidFill>
                <a:latin typeface="Arial"/>
              </a:rPr>
              <a:t>Transit semantics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465576"/>
            <a:ext cx="53492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C76"/>
                </a:solidFill>
                <a:latin typeface="Arial"/>
              </a:rPr>
              <a:t>A prediction gap is not the same thing as a realized headway.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32120" y="4114800"/>
            <a:ext cx="5623560" cy="0"/>
          </a:xfrm>
          <a:prstGeom prst="line">
            <a:avLst/>
          </a:prstGeom>
          <a:ln w="1905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983480" y="4361688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7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4288536"/>
            <a:ext cx="2560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A3A"/>
                </a:solidFill>
                <a:latin typeface="Arial"/>
              </a:rPr>
              <a:t>Trust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672583"/>
            <a:ext cx="53492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6C76"/>
                </a:solidFill>
                <a:latin typeface="Arial"/>
              </a:rPr>
              <a:t>A fluent answer is not useful if the underlying number cannot be checked.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5623560"/>
            <a:ext cx="62179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7A73"/>
                </a:solidFill>
                <a:latin typeface="Arial"/>
              </a:rPr>
              <a:t>Design goal: make transit analysis approachable without hiding the method.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016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T-Analyst · Agentic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A3A"/>
                </a:solidFill>
                <a:latin typeface="Arial"/>
              </a:rPr>
              <a:t>One interface, two levels of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C76"/>
                </a:solidFill>
                <a:latin typeface="Arial"/>
              </a:rPr>
              <a:t>A clear answer first; the technical trail remains one click away.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0972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42062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02A3A"/>
                </a:solidFill>
                <a:latin typeface="Arial"/>
              </a:rPr>
              <a:t>How is the subway running?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9875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971800"/>
            <a:ext cx="987552" cy="6400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3182112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C76"/>
                </a:solidFill>
                <a:latin typeface="Arial"/>
              </a:rPr>
              <a:t>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3447288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A3A"/>
                </a:solidFill>
                <a:latin typeface="Arial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29967" y="2971800"/>
            <a:ext cx="9875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29967" y="2971800"/>
            <a:ext cx="987552" cy="64008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3182112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C76"/>
                </a:solidFill>
                <a:latin typeface="Arial"/>
              </a:rPr>
              <a:t>Orange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9696" y="3447288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A3A"/>
                </a:solidFill>
                <a:latin typeface="Arial"/>
              </a:rP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1256" y="2971800"/>
            <a:ext cx="9875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91256" y="2971800"/>
            <a:ext cx="987552" cy="64008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0984" y="3182112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C76"/>
                </a:solidFill>
                <a:latin typeface="Arial"/>
              </a:rPr>
              <a:t>Blue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0984" y="3447288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A3A"/>
                </a:solidFill>
                <a:latin typeface="Arial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2971800"/>
            <a:ext cx="9875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2971800"/>
            <a:ext cx="987552" cy="64008"/>
          </a:xfrm>
          <a:prstGeom prst="rect">
            <a:avLst/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3182112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C76"/>
                </a:solidFill>
                <a:latin typeface="Arial"/>
              </a:rP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447288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A3A"/>
                </a:solidFill>
                <a:latin typeface="Arial"/>
              </a:rPr>
              <a:t>43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315968"/>
            <a:ext cx="4416552" cy="114300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E6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4535424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7A73"/>
                </a:solidFill>
                <a:latin typeface="Arial"/>
              </a:rPr>
              <a:t>What stands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846320"/>
            <a:ext cx="38862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A3A"/>
                </a:solidFill>
                <a:latin typeface="Arial"/>
              </a:rPr>
              <a:t>Green-D had the largest share of unusually long train intervals: 17.5%.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1828800"/>
            <a:ext cx="546811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057400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ASK A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395728"/>
            <a:ext cx="44805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02A3A"/>
                </a:solidFill>
                <a:latin typeface="Arial"/>
              </a:rPr>
              <a:t>What would you like to know?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971800"/>
            <a:ext cx="4617720" cy="71323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3200400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3A"/>
                </a:solidFill>
                <a:latin typeface="Arial"/>
              </a:rPr>
              <a:t>How has the Red Line been running?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977639"/>
            <a:ext cx="4617720" cy="1170432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E6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4187952"/>
            <a:ext cx="7315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4480560"/>
            <a:ext cx="4114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2A3A"/>
                </a:solidFill>
                <a:latin typeface="Arial"/>
              </a:rPr>
              <a:t>Recent Red Line spacing was close to schedule at the median, while 9.3% of usable intervals were unusually long. [E1]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440680"/>
            <a:ext cx="31089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A73"/>
                </a:solidFill>
                <a:latin typeface="Arial"/>
              </a:rPr>
              <a:t>See how this answer was made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016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T-Analyst · Agentic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A3A"/>
                </a:solidFill>
                <a:latin typeface="Arial"/>
              </a:rPr>
              <a:t>Live context + realized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C76"/>
                </a:solidFill>
                <a:latin typeface="Arial"/>
              </a:rPr>
              <a:t>The app keeps future predictions separate from completed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5321808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468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3DA5"/>
                </a:solidFill>
                <a:latin typeface="Arial"/>
              </a:rPr>
              <a:t>LIVE · MBTA V3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38404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02A3A"/>
                </a:solidFill>
                <a:latin typeface="Arial"/>
              </a:rPr>
              <a:t>What is happening now?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44952"/>
            <a:ext cx="42976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02A3A"/>
                </a:solidFill>
                <a:latin typeface="Arial"/>
              </a:defRPr>
            </a:pPr>
            <a:r>
              <a:t>•  /vehicles · reported positions</a:t>
            </a:r>
          </a:p>
          <a:p>
            <a:pPr>
              <a:spcAft>
                <a:spcPts val="900"/>
              </a:spcAft>
              <a:defRPr sz="1500">
                <a:solidFill>
                  <a:srgbClr val="102A3A"/>
                </a:solidFill>
                <a:latin typeface="Arial"/>
              </a:defRPr>
            </a:pPr>
            <a:r>
              <a:t>•  /alerts · current service notices</a:t>
            </a:r>
          </a:p>
          <a:p>
            <a:pPr>
              <a:spcAft>
                <a:spcPts val="900"/>
              </a:spcAft>
              <a:defRPr sz="1500">
                <a:solidFill>
                  <a:srgbClr val="102A3A"/>
                </a:solidFill>
                <a:latin typeface="Arial"/>
              </a:defRPr>
            </a:pPr>
            <a:r>
              <a:t>•  /predictions · future arrivals/departures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Refreshed as a timestamped 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828800"/>
            <a:ext cx="5358384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103120"/>
            <a:ext cx="2468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843D"/>
                </a:solidFill>
                <a:latin typeface="Arial"/>
              </a:rPr>
              <a:t>HISTORY · MBTA LAMP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487168"/>
            <a:ext cx="42062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02A3A"/>
                </a:solidFill>
                <a:latin typeface="Arial"/>
              </a:rPr>
              <a:t>How did service actually run?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3044952"/>
            <a:ext cx="43891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02A3A"/>
                </a:solidFill>
                <a:latin typeface="Arial"/>
              </a:defRPr>
            </a:pPr>
            <a:r>
              <a:t>•  Daily subway performance Parquet</a:t>
            </a:r>
          </a:p>
          <a:p>
            <a:pPr>
              <a:spcAft>
                <a:spcPts val="900"/>
              </a:spcAft>
              <a:defRPr sz="1500">
                <a:solidFill>
                  <a:srgbClr val="102A3A"/>
                </a:solidFill>
                <a:latin typeface="Arial"/>
              </a:defRPr>
            </a:pPr>
            <a:r>
              <a:t>•  Observed + matched scheduled headways</a:t>
            </a:r>
          </a:p>
          <a:p>
            <a:pPr>
              <a:spcAft>
                <a:spcPts val="900"/>
              </a:spcAft>
              <a:defRPr sz="1500">
                <a:solidFill>
                  <a:srgbClr val="102A3A"/>
                </a:solidFill>
                <a:latin typeface="Arial"/>
              </a:defRPr>
            </a:pPr>
            <a:r>
              <a:t>•  Travel time, dwell time, route, stop,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4572000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Latest 7 complete days · cached locally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40680"/>
            <a:ext cx="106984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7A73"/>
                </a:solidFill>
                <a:latin typeface="Arial"/>
              </a:rPr>
              <a:t>298,851</a:t>
            </a:r>
            <a:r>
              <a:rPr sz="1700" b="0">
                <a:solidFill>
                  <a:srgbClr val="5B6C76"/>
                </a:solidFill>
                <a:latin typeface="Arial"/>
              </a:rPr>
              <a:t> trip-stop records · </a:t>
            </a:r>
            <a:r>
              <a:rPr sz="1700" b="1">
                <a:solidFill>
                  <a:srgbClr val="102A3A"/>
                </a:solidFill>
                <a:latin typeface="Arial"/>
              </a:rPr>
              <a:t>Sep 6–12, 2026</a:t>
            </a:r>
            <a:r>
              <a:rPr sz="1700" b="0">
                <a:solidFill>
                  <a:srgbClr val="5B6C76"/>
                </a:solidFill>
                <a:latin typeface="Arial"/>
              </a:rPr>
              <a:t> · Red, Orange, Blue, Green B/C/D/E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016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T-Analyst · Agentic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AGENT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A3A"/>
                </a:solidFill>
                <a:latin typeface="Arial"/>
              </a:rPr>
              <a:t>The model reasons. Deterministic tools calculate.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C76"/>
                </a:solidFill>
                <a:latin typeface="Arial"/>
              </a:rPr>
              <a:t>This boundary is the central design choice.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600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404872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715768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A3A"/>
                </a:solidFill>
                <a:latin typeface="Arial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108960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Plain language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944368"/>
            <a:ext cx="274319" cy="0"/>
          </a:xfrm>
          <a:prstGeom prst="line">
            <a:avLst/>
          </a:prstGeom>
          <a:ln w="21590">
            <a:solidFill>
              <a:srgbClr val="007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14015" y="2240280"/>
            <a:ext cx="1600200" cy="141732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2404872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715768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A3A"/>
                </a:solidFill>
                <a:latin typeface="Arial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3108960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GPT-5.5 JSON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14215" y="2944368"/>
            <a:ext cx="274321" cy="0"/>
          </a:xfrm>
          <a:prstGeom prst="line">
            <a:avLst/>
          </a:prstGeom>
          <a:ln w="21590">
            <a:solidFill>
              <a:srgbClr val="007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25112" y="2240280"/>
            <a:ext cx="1600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3" y="2404872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3" y="2715768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A3A"/>
                </a:solidFill>
                <a:latin typeface="Arial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3" y="3108960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Pydantic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25312" y="2944368"/>
            <a:ext cx="274319" cy="0"/>
          </a:xfrm>
          <a:prstGeom prst="line">
            <a:avLst/>
          </a:prstGeom>
          <a:ln w="21590">
            <a:solidFill>
              <a:srgbClr val="007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36207" y="2240280"/>
            <a:ext cx="1600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2404872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9" y="2715768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A3A"/>
                </a:solidFill>
                <a:latin typeface="Arial"/>
              </a:rP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3108960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Python tools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36408" y="2944368"/>
            <a:ext cx="274320" cy="0"/>
          </a:xfrm>
          <a:prstGeom prst="line">
            <a:avLst/>
          </a:prstGeom>
          <a:ln w="21590">
            <a:solidFill>
              <a:srgbClr val="007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47304" y="2240280"/>
            <a:ext cx="1600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2404872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2715768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A3A"/>
                </a:solidFill>
                <a:latin typeface="Arial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3108960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[E1], [E2]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47504" y="2944368"/>
            <a:ext cx="274320" cy="0"/>
          </a:xfrm>
          <a:prstGeom prst="line">
            <a:avLst/>
          </a:prstGeom>
          <a:ln w="21590">
            <a:solidFill>
              <a:srgbClr val="007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58400" y="2240280"/>
            <a:ext cx="1600200" cy="141732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22992" y="2404872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2715768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A3A"/>
                </a:solidFill>
                <a:latin typeface="Arial"/>
              </a:rPr>
              <a:t>Explain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2992" y="3108960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GPT-5.5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4297680"/>
            <a:ext cx="10287000" cy="114300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0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4553712"/>
            <a:ext cx="4754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The LLM never calculates a displayed transit metric.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956048"/>
            <a:ext cx="9052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1E2E8"/>
                </a:solidFill>
                <a:latin typeface="Arial"/>
              </a:rPr>
              <a:t>It can choose only 4 read-only tools · no arbitrary SQL · unsupported citations trigger a safe fallback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016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T-Analyst · Agentic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AUDITABILITY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A3A"/>
                </a:solidFill>
                <a:latin typeface="Arial"/>
              </a:rPr>
              <a:t>A fluent answer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C76"/>
                </a:solidFill>
                <a:latin typeface="Arial"/>
              </a:rPr>
              <a:t>Every numerical claim has a path back to current-run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880360" cy="3977639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0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7D7C7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3317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How has the Red Line been running?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1E2E8"/>
                </a:solidFill>
                <a:latin typeface="Arial"/>
              </a:rPr>
              <a:t>Everyday language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828800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2121408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VALIDATED TOOL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560320"/>
            <a:ext cx="28346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A3A"/>
                </a:solidFill>
                <a:latin typeface="Arial"/>
              </a:rPr>
              <a:t>network_reliability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3063240"/>
            <a:ext cx="2971800" cy="658368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3291840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3A"/>
                </a:solidFill>
                <a:latin typeface="Arial"/>
              </a:rPr>
              <a:t>{"line": "Red"}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4096512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C76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4389120"/>
            <a:ext cx="28346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02A3A"/>
                </a:solidFill>
                <a:latin typeface="Arial"/>
              </a:rPr>
              <a:t>MBTA LAMP daily subway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5166360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C76"/>
                </a:solidFill>
                <a:latin typeface="Arial"/>
              </a:rPr>
              <a:t>Evidence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5111496"/>
            <a:ext cx="685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7A73"/>
                </a:solidFill>
                <a:latin typeface="Arial"/>
              </a:rPr>
              <a:t>[E1]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828800"/>
            <a:ext cx="3867912" cy="3977639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E6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2121408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GROUNDED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578608"/>
            <a:ext cx="32004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A3A"/>
                </a:solidFill>
                <a:latin typeface="Arial"/>
              </a:rPr>
              <a:t>Recent Red Line spacing was close to schedule at the median.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840480"/>
            <a:ext cx="3154680" cy="8412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02A3A"/>
                </a:solidFill>
                <a:latin typeface="Arial"/>
              </a:rPr>
              <a:t>9.3% of usable intervals were more than 1.5× the matched schedule. [E1]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074920"/>
            <a:ext cx="25603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A73"/>
                </a:solidFill>
                <a:latin typeface="Arial"/>
              </a:rPr>
              <a:t>Answer → evidence out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016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T-Analyst · Agentic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EXAMPLE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A3A"/>
                </a:solidFill>
                <a:latin typeface="Arial"/>
              </a:rPr>
              <a:t>Green Line branches showed the most uneven spacing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C76"/>
                </a:solidFill>
                <a:latin typeface="Arial"/>
              </a:rPr>
              <a:t>Realized headways · 2026-09-06 to 2026-09-12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657600" cy="406908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0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2286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7D7C7"/>
                </a:solidFill>
                <a:latin typeface="Arial"/>
              </a:rPr>
              <a:t>HIGHEST LONG-GAP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06040"/>
            <a:ext cx="21031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Green-D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73552"/>
            <a:ext cx="22860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77D7C7"/>
                </a:solidFill>
                <a:latin typeface="Arial"/>
              </a:rPr>
              <a:t>17.5%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096512"/>
            <a:ext cx="26974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1E2E8"/>
                </a:solidFill>
                <a:latin typeface="Arial"/>
              </a:rPr>
              <a:t>38,840 usable headway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892040"/>
            <a:ext cx="269748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A long gap is more than 1.5× the matched scheduled headway.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21408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Green-D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057400"/>
            <a:ext cx="4434840" cy="301752"/>
          </a:xfrm>
          <a:prstGeom prst="roundRect">
            <a:avLst/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5560" y="2112264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17.5%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15184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Green-B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551176"/>
            <a:ext cx="4409498" cy="301752"/>
          </a:xfrm>
          <a:prstGeom prst="roundRect">
            <a:avLst/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70218" y="2606040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17.4%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108960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Green-E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3044952"/>
            <a:ext cx="4282788" cy="301752"/>
          </a:xfrm>
          <a:prstGeom prst="roundRect">
            <a:avLst/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43508" y="3099816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16.9%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602736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Green-C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538728"/>
            <a:ext cx="3598555" cy="301752"/>
          </a:xfrm>
          <a:prstGeom prst="roundRect">
            <a:avLst/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9275" y="3593592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14.2%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096512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4032504"/>
            <a:ext cx="2356800" cy="301752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7520" y="4087368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9.3%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590288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Blue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526280"/>
            <a:ext cx="1824619" cy="301752"/>
          </a:xfrm>
          <a:prstGeom prst="round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5339" y="4581144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7.2%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5084064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Orange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5020056"/>
            <a:ext cx="1596542" cy="301752"/>
          </a:xfrm>
          <a:prstGeom prst="round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57262" y="5074920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A3A"/>
                </a:solidFill>
                <a:latin typeface="Arial"/>
              </a:rPr>
              <a:t>6.3%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687568"/>
            <a:ext cx="4480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Share of usable headways &gt; 1.5× schedule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016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T-Analyst · Agentic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WHY IT STANDS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A3A"/>
                </a:solidFill>
                <a:latin typeface="Arial"/>
              </a:rPr>
              <a:t>Trust is a product feature, not a footnote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C76"/>
                </a:solidFill>
                <a:latin typeface="Arial"/>
              </a:rPr>
              <a:t>The project combines agent design with transit operations discipline.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7A73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04872"/>
            <a:ext cx="3072384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2A3A"/>
                </a:solidFill>
                <a:latin typeface="Arial"/>
              </a:rPr>
              <a:t>Bounded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24912"/>
            <a:ext cx="3072384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Four read-only tools, validated arguments, and no arbitrary 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6596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5" y="2148840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7A73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5" y="2404872"/>
            <a:ext cx="3072384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2A3A"/>
                </a:solidFill>
                <a:latin typeface="Arial"/>
              </a:rPr>
              <a:t>Transit-aware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2724912"/>
            <a:ext cx="3072384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Realized headways stay distinct from future prediction gaps.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96596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2148840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7A73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2404872"/>
            <a:ext cx="3072384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2A3A"/>
                </a:solidFill>
                <a:latin typeface="Arial"/>
              </a:rPr>
              <a:t>Reproducible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724912"/>
            <a:ext cx="3072384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C76"/>
                </a:solidFill>
                <a:latin typeface="Arial"/>
              </a:rPr>
              <a:t>Official sources, cached service days, tests, and generated artifacts.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03320"/>
            <a:ext cx="11009376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NOT JUST A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48006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A3A"/>
                </a:solidFill>
                <a:latin typeface="Arial"/>
              </a:rPr>
              <a:t>The interface can answer a new question and show how it reached the answer.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4023360"/>
            <a:ext cx="0" cy="1033272"/>
          </a:xfrm>
          <a:prstGeom prst="line">
            <a:avLst/>
          </a:prstGeom>
          <a:ln w="1270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9360" y="3977639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NOT JUST A CHATBOT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43400"/>
            <a:ext cx="466344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A3A"/>
                </a:solidFill>
                <a:latin typeface="Arial"/>
              </a:rPr>
              <a:t>The model cannot invent a metric path: evidence is produced by deterministic code.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016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T-Analyst · Agentic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LIMITS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A3A"/>
                </a:solidFill>
                <a:latin typeface="Arial"/>
              </a:rPr>
              <a:t>A deliberately narrow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C76"/>
                </a:solidFill>
                <a:latin typeface="Arial"/>
              </a:rPr>
              <a:t>The current constraints are visible—and create a clear research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D8B00"/>
                </a:solidFill>
                <a:latin typeface="Arial"/>
              </a:rPr>
              <a:t>CURRENT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4754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02A3A"/>
                </a:solidFill>
                <a:latin typeface="Arial"/>
              </a:defRPr>
            </a:pPr>
            <a:r>
              <a:t>•  Seven service days are not a long-run baseline</a:t>
            </a:r>
          </a:p>
          <a:p>
            <a:pPr>
              <a:spcAft>
                <a:spcPts val="1400"/>
              </a:spcAft>
              <a:defRPr sz="1700">
                <a:solidFill>
                  <a:srgbClr val="102A3A"/>
                </a:solidFill>
                <a:latin typeface="Arial"/>
              </a:defRPr>
            </a:pPr>
            <a:r>
              <a:t>•  No weekday/weekend or time-of-day controls</a:t>
            </a:r>
          </a:p>
          <a:p>
            <a:pPr>
              <a:spcAft>
                <a:spcPts val="1400"/>
              </a:spcAft>
              <a:defRPr sz="1700">
                <a:solidFill>
                  <a:srgbClr val="102A3A"/>
                </a:solidFill>
                <a:latin typeface="Arial"/>
              </a:defRPr>
            </a:pPr>
            <a:r>
              <a:t>•  Four tools; no trip planning or forecasting</a:t>
            </a:r>
          </a:p>
          <a:p>
            <a:pPr>
              <a:spcAft>
                <a:spcPts val="1400"/>
              </a:spcAft>
              <a:defRPr sz="1700">
                <a:solidFill>
                  <a:srgbClr val="102A3A"/>
                </a:solidFill>
                <a:latin typeface="Arial"/>
              </a:defRPr>
            </a:pPr>
            <a:r>
              <a:t>•  Local prototype rather than a deployed service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874519"/>
            <a:ext cx="0" cy="3566161"/>
          </a:xfrm>
          <a:prstGeom prst="line">
            <a:avLst/>
          </a:prstGeom>
          <a:ln w="1270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09360" y="1874519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7A73"/>
                </a:solidFill>
                <a:latin typeface="Arial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02A3A"/>
                </a:solidFill>
                <a:latin typeface="Arial"/>
              </a:defRPr>
            </a:pPr>
            <a:r>
              <a:t>•  Separate peak, off-peak, weekday, and weekend service</a:t>
            </a:r>
          </a:p>
          <a:p>
            <a:pPr>
              <a:spcAft>
                <a:spcPts val="1400"/>
              </a:spcAft>
              <a:defRPr sz="1700">
                <a:solidFill>
                  <a:srgbClr val="102A3A"/>
                </a:solidFill>
                <a:latin typeface="Arial"/>
              </a:defRPr>
            </a:pPr>
            <a:r>
              <a:t>•  Compare Green Line branch and shared-trunk headways</a:t>
            </a:r>
          </a:p>
          <a:p>
            <a:pPr>
              <a:spcAft>
                <a:spcPts val="1400"/>
              </a:spcAft>
              <a:defRPr sz="1700">
                <a:solidFill>
                  <a:srgbClr val="102A3A"/>
                </a:solidFill>
                <a:latin typeface="Arial"/>
              </a:defRPr>
            </a:pPr>
            <a:r>
              <a:t>•  Add data-quality confidence to each evidence package</a:t>
            </a:r>
          </a:p>
          <a:p>
            <a:pPr>
              <a:spcAft>
                <a:spcPts val="1400"/>
              </a:spcAft>
              <a:defRPr sz="1700">
                <a:solidFill>
                  <a:srgbClr val="102A3A"/>
                </a:solidFill>
                <a:latin typeface="Arial"/>
              </a:defRPr>
            </a:pPr>
            <a:r>
              <a:t>•  Evaluate tool selection and answer grounding 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349240"/>
            <a:ext cx="10469880" cy="5943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012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A3A"/>
                </a:solidFill>
                <a:latin typeface="Arial"/>
              </a:rPr>
              <a:t>The goal was not to answer every transit question. It was to make a useful set of answers trustworthy.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016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6547104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T-Analyst · Agentic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C7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7D7C7"/>
                </a:solidFill>
                <a:latin typeface="Arial"/>
              </a:rPr>
              <a:t>T-ANALYST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94944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 useful agent is not the one
that answers everything.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5895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77D7C7"/>
                </a:solidFill>
                <a:latin typeface="Arial"/>
              </a:rPr>
              <a:t>It is the one that shows why its answer should be trusted.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6309360" cy="1051560"/>
          </a:xfrm>
          <a:prstGeom prst="roundRect">
            <a:avLst/>
          </a:prstGeom>
          <a:solidFill>
            <a:srgbClr val="071B28"/>
          </a:solidFill>
          <a:ln w="12700">
            <a:solidFill>
              <a:srgbClr val="425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4224528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0B9C3"/>
                </a:solidFill>
                <a:latin typeface="Arial"/>
              </a:rPr>
              <a:t>Suggested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4535424"/>
            <a:ext cx="53949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“How has the Red Line been running?”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554480"/>
            <a:ext cx="23774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743200"/>
            <a:ext cx="420624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D1E2E8"/>
                </a:solidFill>
                <a:latin typeface="Arial"/>
              </a:rPr>
              <a:t>github.com/OliviaLJY/
T-Analyst-An-Auditable-Agent-for-
MBTA-Transit-Operations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7315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0B9C3"/>
                </a:solidFill>
                <a:latin typeface="Arial"/>
              </a:rPr>
              <a:t>MIT Parley GPT-5.5 · MBTA V3 API · MBTA LAMP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172200"/>
            <a:ext cx="365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B9C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T-Analyst: An Auditable Agent for MBTA Transit Operations</dc:title>
  <dc:subject>Agentic AI technical evaluation</dc:subject>
  <dc:creator>OliviaLJY</dc:creator>
  <cp:keywords/>
  <dc:description>Generated from the project's verified MBTA LAMP summary.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